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2065E5-EFE9-7742-ABB9-5077C88E7000}" v="7" dt="2025-07-31T16:58:26.8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–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29"/>
    <p:restoredTop sz="94754"/>
  </p:normalViewPr>
  <p:slideViewPr>
    <p:cSldViewPr snapToGrid="0">
      <p:cViewPr varScale="1">
        <p:scale>
          <a:sx n="102" d="100"/>
          <a:sy n="102" d="100"/>
        </p:scale>
        <p:origin x="2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8A87A34-81AB-432B-8DAE-1953F412C126}" type="datetimeFigureOut">
              <a:rPr lang="en-US" dirty="0"/>
              <a:pPr/>
              <a:t>7/31/25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7/31/25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7/31/25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7/31/25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7/31/25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7/31/25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 dirty="0"/>
              <a:t>7/31/25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7/31/25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7D762-6D28-A6B0-5E48-9C99910861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ValueScope</a:t>
            </a:r>
            <a:r>
              <a:rPr lang="en-US" dirty="0"/>
              <a:t>: Human Value Detection and Attainment Classifier for Social Texts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CC9530-ED08-8D75-EBAD-465983C28B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Aditya Kumar Mishra (22BCE0564)</a:t>
            </a:r>
          </a:p>
          <a:p>
            <a:r>
              <a:rPr lang="en-US" dirty="0"/>
              <a:t>Meet Adarsh Vyas (22BCE2756)</a:t>
            </a:r>
          </a:p>
          <a:p>
            <a:r>
              <a:rPr lang="en-US" dirty="0"/>
              <a:t>Keshav (22BCE3159)</a:t>
            </a:r>
          </a:p>
        </p:txBody>
      </p:sp>
    </p:spTree>
    <p:extLst>
      <p:ext uri="{BB962C8B-B14F-4D97-AF65-F5344CB8AC3E}">
        <p14:creationId xmlns:p14="http://schemas.microsoft.com/office/powerpoint/2010/main" val="22758235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6B363-6699-AE74-ED64-5E6CD4348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C09FF-0849-8925-F4FF-24C0EC9C5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Automatically identify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human values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and whether they are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attained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or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constrained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in long-form texts.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283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1E7B7-8B3D-89B9-36F2-EB973ED1E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15C65-E5C7-DE68-CE85-712725E0C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Helps 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analyze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 social, moral, or cultural dimensions in texts using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Schwartz’s Value Theory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6616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BEF71-E058-AB6E-9D0C-999F06BA3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84D35-451F-B765-6F6F-D21317D78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Sub-task 1: Value Detection</a:t>
            </a:r>
            <a:br>
              <a:rPr lang="en-IN" dirty="0"/>
            </a:br>
            <a:r>
              <a:rPr lang="en-IN" dirty="0"/>
              <a:t>Detect if a sentence </a:t>
            </a:r>
            <a:r>
              <a:rPr lang="en-IN" b="1" dirty="0"/>
              <a:t>refers</a:t>
            </a:r>
            <a:r>
              <a:rPr lang="en-IN" dirty="0"/>
              <a:t> to any of the 19 predefined human values.</a:t>
            </a:r>
          </a:p>
          <a:p>
            <a:r>
              <a:rPr lang="en-IN" b="1" dirty="0"/>
              <a:t>Sub-task 2: Value Attainment Classification</a:t>
            </a:r>
            <a:br>
              <a:rPr lang="en-IN" dirty="0"/>
            </a:br>
            <a:r>
              <a:rPr lang="en-IN" dirty="0"/>
              <a:t>For each detected value, decide whether it is: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Attained</a:t>
            </a:r>
            <a:r>
              <a:rPr lang="en-IN" dirty="0"/>
              <a:t> (value is promoted or fulfilled)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1" dirty="0"/>
              <a:t>Constrained</a:t>
            </a:r>
            <a:r>
              <a:rPr lang="en-IN" dirty="0"/>
              <a:t> (value is hindered or violated)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586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647D7-71BD-0C57-3535-1ED9C4B21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</a:t>
            </a:r>
            <a:r>
              <a:rPr lang="en-US" dirty="0" err="1"/>
              <a:t>Framwork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1BA02-8E9A-77B5-DE94-9B17BB2AC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Self-direction: thought, Self-direction: action, Stimulation, Hedonism, Achievement, Power: dominance, Power: resources, Face, Security: personal, Security: societal, Tradition, Conformity: rules, Conformity: interpersonal, Humility, Benevolence: caring, Benevolence: dependability, Universalism: concern, Universalism: nature, Universalism: tolerance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Each sentence may refer to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none, one, or several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 of these values.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846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CFFA0-7B70-1B3C-8F67-43F5749F9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Reference vs Attainment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EDC2A-60E6-5446-ED28-0CCA79E44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For each value, a sentence may: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Not refer to it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→ both attained &amp; constrained = 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Refer ambiguously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→ both = 0.5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Refer clearly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Attained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→ attained = 1, constrained = 0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Constrained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→ attained = 0, constrained = 1</a:t>
            </a:r>
          </a:p>
        </p:txBody>
      </p:sp>
    </p:spTree>
    <p:extLst>
      <p:ext uri="{BB962C8B-B14F-4D97-AF65-F5344CB8AC3E}">
        <p14:creationId xmlns:p14="http://schemas.microsoft.com/office/powerpoint/2010/main" val="2679460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B3BA5-55B1-1F7C-CC99-F13E2E12E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Data: </a:t>
            </a:r>
            <a:r>
              <a:rPr lang="en-US" dirty="0" err="1"/>
              <a:t>sentences.tsv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548D9C-BEE0-1CAD-148A-62DB822613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6493878"/>
              </p:ext>
            </p:extLst>
          </p:nvPr>
        </p:nvGraphicFramePr>
        <p:xfrm>
          <a:off x="5118100" y="803275"/>
          <a:ext cx="628173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869">
                  <a:extLst>
                    <a:ext uri="{9D8B030D-6E8A-4147-A177-3AD203B41FA5}">
                      <a16:colId xmlns:a16="http://schemas.microsoft.com/office/drawing/2014/main" val="4125099655"/>
                    </a:ext>
                  </a:extLst>
                </a:gridCol>
                <a:gridCol w="3140869">
                  <a:extLst>
                    <a:ext uri="{9D8B030D-6E8A-4147-A177-3AD203B41FA5}">
                      <a16:colId xmlns:a16="http://schemas.microsoft.com/office/drawing/2014/main" val="3115356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340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Text-ID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 of the given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440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Sentence-ID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Sentence index of the given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938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actual sentence content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49178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48F52DC-1DBA-97BD-926B-6093AE571ECE}"/>
              </a:ext>
            </a:extLst>
          </p:cNvPr>
          <p:cNvSpPr txBox="1"/>
          <p:nvPr/>
        </p:nvSpPr>
        <p:spPr>
          <a:xfrm>
            <a:off x="5118100" y="2931815"/>
            <a:ext cx="1189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EEDDEE4-BEDF-13FA-ABE2-D88901840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3881"/>
              </p:ext>
            </p:extLst>
          </p:nvPr>
        </p:nvGraphicFramePr>
        <p:xfrm>
          <a:off x="5118100" y="3435077"/>
          <a:ext cx="5599089" cy="24688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66363">
                  <a:extLst>
                    <a:ext uri="{9D8B030D-6E8A-4147-A177-3AD203B41FA5}">
                      <a16:colId xmlns:a16="http://schemas.microsoft.com/office/drawing/2014/main" val="3391108597"/>
                    </a:ext>
                  </a:extLst>
                </a:gridCol>
                <a:gridCol w="1866363">
                  <a:extLst>
                    <a:ext uri="{9D8B030D-6E8A-4147-A177-3AD203B41FA5}">
                      <a16:colId xmlns:a16="http://schemas.microsoft.com/office/drawing/2014/main" val="585301577"/>
                    </a:ext>
                  </a:extLst>
                </a:gridCol>
                <a:gridCol w="1866363">
                  <a:extLst>
                    <a:ext uri="{9D8B030D-6E8A-4147-A177-3AD203B41FA5}">
                      <a16:colId xmlns:a16="http://schemas.microsoft.com/office/drawing/2014/main" val="34484406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First Sentence of Text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76086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Second Sentence of Text A</a:t>
                      </a:r>
                    </a:p>
                    <a:p>
                      <a:endParaRPr lang="en-US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515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/>
                        <a:t>First Sentence of Text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9146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3822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AA504-D234-BDA4-2400-F3E913979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DF8FD-6FC1-57B7-4E66-FD1A52043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Input Data: </a:t>
            </a:r>
            <a:r>
              <a:rPr lang="en-US" dirty="0" err="1"/>
              <a:t>labels.tsv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864D7E-A84A-704F-F741-B390E4C49B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1213990"/>
              </p:ext>
            </p:extLst>
          </p:nvPr>
        </p:nvGraphicFramePr>
        <p:xfrm>
          <a:off x="5118100" y="269895"/>
          <a:ext cx="6281738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0869">
                  <a:extLst>
                    <a:ext uri="{9D8B030D-6E8A-4147-A177-3AD203B41FA5}">
                      <a16:colId xmlns:a16="http://schemas.microsoft.com/office/drawing/2014/main" val="4125099655"/>
                    </a:ext>
                  </a:extLst>
                </a:gridCol>
                <a:gridCol w="3140869">
                  <a:extLst>
                    <a:ext uri="{9D8B030D-6E8A-4147-A177-3AD203B41FA5}">
                      <a16:colId xmlns:a16="http://schemas.microsoft.com/office/drawing/2014/main" val="3115356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Column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3405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Text-ID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 of the given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440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Sentence-ID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Sentence index of the given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938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Values Attained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Confidence that the value is </a:t>
                      </a: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attained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491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Values Constrained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Confidence that the value is </a:t>
                      </a:r>
                      <a:r>
                        <a:rPr lang="en-IN" sz="180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constrained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00748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F79CB2F-5C63-7DE3-459A-08324241BBFA}"/>
              </a:ext>
            </a:extLst>
          </p:cNvPr>
          <p:cNvSpPr txBox="1"/>
          <p:nvPr/>
        </p:nvSpPr>
        <p:spPr>
          <a:xfrm>
            <a:off x="4523225" y="3226691"/>
            <a:ext cx="11897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968C083-CE12-ACC9-AFED-DC2A23683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481213"/>
              </p:ext>
            </p:extLst>
          </p:nvPr>
        </p:nvGraphicFramePr>
        <p:xfrm>
          <a:off x="4597052" y="3616271"/>
          <a:ext cx="7440462" cy="256032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240077">
                  <a:extLst>
                    <a:ext uri="{9D8B030D-6E8A-4147-A177-3AD203B41FA5}">
                      <a16:colId xmlns:a16="http://schemas.microsoft.com/office/drawing/2014/main" val="2320438578"/>
                    </a:ext>
                  </a:extLst>
                </a:gridCol>
                <a:gridCol w="1240077">
                  <a:extLst>
                    <a:ext uri="{9D8B030D-6E8A-4147-A177-3AD203B41FA5}">
                      <a16:colId xmlns:a16="http://schemas.microsoft.com/office/drawing/2014/main" val="644663288"/>
                    </a:ext>
                  </a:extLst>
                </a:gridCol>
                <a:gridCol w="1240077">
                  <a:extLst>
                    <a:ext uri="{9D8B030D-6E8A-4147-A177-3AD203B41FA5}">
                      <a16:colId xmlns:a16="http://schemas.microsoft.com/office/drawing/2014/main" val="1076563503"/>
                    </a:ext>
                  </a:extLst>
                </a:gridCol>
                <a:gridCol w="1240077">
                  <a:extLst>
                    <a:ext uri="{9D8B030D-6E8A-4147-A177-3AD203B41FA5}">
                      <a16:colId xmlns:a16="http://schemas.microsoft.com/office/drawing/2014/main" val="1295734204"/>
                    </a:ext>
                  </a:extLst>
                </a:gridCol>
                <a:gridCol w="1240077">
                  <a:extLst>
                    <a:ext uri="{9D8B030D-6E8A-4147-A177-3AD203B41FA5}">
                      <a16:colId xmlns:a16="http://schemas.microsoft.com/office/drawing/2014/main" val="1603133894"/>
                    </a:ext>
                  </a:extLst>
                </a:gridCol>
                <a:gridCol w="1240077">
                  <a:extLst>
                    <a:ext uri="{9D8B030D-6E8A-4147-A177-3AD203B41FA5}">
                      <a16:colId xmlns:a16="http://schemas.microsoft.com/office/drawing/2014/main" val="42312613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Text-ID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Sentence-ID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Self-direction: thought attained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Self-direction: thought constrained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Stimulation attained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Stimulation constrained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7089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274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24535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201716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2276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0F8A-1E2A-73BA-18CE-80BB3AC94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03DC8-142F-12F8-3607-D4F8C5B20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The output must mirror the structure of 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labels.tsv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 but use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probabilities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Each cell: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0.0 to 1.0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Must follow: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attained + constrained = confidence the value is referenced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attained / (attained + constrained) = confidence it is attained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46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E0251-AF2E-CF2D-94EE-2E03A3DD3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C8722-218A-4E59-C8CF-31E35655BD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Sub-task 1: Value Reference (per value)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Positive if </a:t>
            </a:r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attained + constrained ≥ 0.5</a:t>
            </a:r>
            <a:endParaRPr lang="en-IN" b="0" i="0" u="none" strike="noStrike" dirty="0">
              <a:solidFill>
                <a:srgbClr val="000000"/>
              </a:solidFill>
              <a:effectLst/>
            </a:endParaRPr>
          </a:p>
          <a:p>
            <a:pPr algn="l"/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Sub-task 2: Attainment vs. Constraint (per value)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Compare: attained / (attained + constrained)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≥ 0.5 → value is attained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&lt; 0.5 → value is constrained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46875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22</TotalTime>
  <Words>464</Words>
  <Application>Microsoft Macintosh PowerPoint</Application>
  <PresentationFormat>Widescreen</PresentationFormat>
  <Paragraphs>91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-webkit-standard</vt:lpstr>
      <vt:lpstr>Arial</vt:lpstr>
      <vt:lpstr>Calibri Light</vt:lpstr>
      <vt:lpstr>Rockwell</vt:lpstr>
      <vt:lpstr>Wingdings</vt:lpstr>
      <vt:lpstr>Atlas</vt:lpstr>
      <vt:lpstr>ValueScope: Human Value Detection and Attainment Classifier for Social Texts</vt:lpstr>
      <vt:lpstr>Goal</vt:lpstr>
      <vt:lpstr>Use Case</vt:lpstr>
      <vt:lpstr>Task Description</vt:lpstr>
      <vt:lpstr>Values Framwork</vt:lpstr>
      <vt:lpstr>Value Reference vs Attainment</vt:lpstr>
      <vt:lpstr>Input Data: sentences.tsv</vt:lpstr>
      <vt:lpstr>Input Data: labels.tsv</vt:lpstr>
      <vt:lpstr>Model Output</vt:lpstr>
      <vt:lpstr>Scoring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Aditya Kumar Mishra</dc:creator>
  <cp:lastModifiedBy>Aditya Kumar Mishra</cp:lastModifiedBy>
  <cp:revision>2</cp:revision>
  <dcterms:created xsi:type="dcterms:W3CDTF">2025-07-31T16:44:25Z</dcterms:created>
  <dcterms:modified xsi:type="dcterms:W3CDTF">2025-07-31T17:07:12Z</dcterms:modified>
</cp:coreProperties>
</file>